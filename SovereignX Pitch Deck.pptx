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771525"/>
            <a:ext cx="4790598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FFFFFF"/>
                </a:solidFill>
                <a:latin typeface="Outfit"/>
              </a:rPr>
              <a:t>Sovereign</a:t>
            </a:r>
            <a:r>
              <a:rPr sz="4800" b="1" i="0" u="none">
                <a:solidFill>
                  <a:srgbClr val="00F2FE"/>
                </a:solidFill>
                <a:latin typeface="Outfit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550021"/>
            <a:ext cx="4790598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FFFFFF"/>
                </a:solidFill>
                <a:latin typeface="Outfit Medium"/>
              </a:rPr>
              <a:t>Compliant, Fractionalized Global Real Estate on the High-Performance Monad Blockchain.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4050803"/>
            <a:ext cx="42957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CBD5E1"/>
                </a:solidFill>
                <a:latin typeface="Inter Light"/>
              </a:rPr>
              <a:t>"Welcome to SovereignX. We are unlocking the world's most valuable asset class by bringing it on-chain with absolute, enterprise-grade compliance built into the code."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AD726B-A1C3-AB67-1DCD-DDC41EB51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799" y="771525"/>
            <a:ext cx="4766525" cy="4766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90725"/>
            <a:ext cx="5229225" cy="3810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1426964"/>
            <a:ext cx="5229225" cy="1310580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525" y="1617464"/>
            <a:ext cx="44291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High-value commercial real estate requires massive upfront capital, locking out retail and mid-tier investors.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2889944"/>
            <a:ext cx="5229225" cy="1584870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525" y="3080444"/>
            <a:ext cx="4429125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Cross-border property investment is plagued by slow settlements, high intermediary fees, and complex legal paperwork.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4627215"/>
            <a:ext cx="5229225" cy="1584870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525" y="4817715"/>
            <a:ext cx="4429125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Current DeFi protocols lack native KYC/AML, making institutional RWA tokenization legally impossible due to unregulated secondary markets.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636514"/>
            <a:ext cx="95250" cy="2000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1025" y="2728019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099494"/>
            <a:ext cx="95250" cy="2000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81025" y="4465290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6202560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025" y="493514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The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Trilemma</a:t>
            </a:r>
            <a:r>
              <a:rPr sz="3450" b="1" i="0" u="none">
                <a:solidFill>
                  <a:srgbClr val="FFFFFF"/>
                </a:solidFill>
                <a:latin typeface="Outfit"/>
              </a:rPr>
              <a:t> of Modern Real Estate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836765"/>
            <a:ext cx="95250" cy="200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2EC9CE3-54A5-91AF-13CC-E25881F6C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1990725"/>
            <a:ext cx="513785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90725"/>
            <a:ext cx="522922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000250"/>
            <a:ext cx="5210175" cy="37909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81750" y="1289893"/>
            <a:ext cx="5229225" cy="1584870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53250" y="1480393"/>
            <a:ext cx="4429125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Tokenizing prime global properties so investors can participate with accessible entry points, democratizing access to tier-1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1750" y="3027164"/>
            <a:ext cx="5229225" cy="1584870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53250" y="3217664"/>
            <a:ext cx="44291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Monthly rental income is converted to stablecoins and distributed programmatically via autonomous smart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1750" y="4764434"/>
            <a:ext cx="5229225" cy="1584870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53250" y="4954934"/>
            <a:ext cx="4429125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Leveraging the </a:t>
            </a:r>
            <a:r>
              <a:rPr sz="1350" b="0" i="0" u="none" dirty="0" err="1">
                <a:solidFill>
                  <a:srgbClr val="94A3B8"/>
                </a:solidFill>
                <a:latin typeface="Inter Light"/>
              </a:rPr>
              <a:t>Cleanverse</a:t>
            </a: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 rules layer, every transaction—from primary issuance to secondary trading—is verified natively on-chain.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1750" y="2865239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1750" y="4602509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1750" y="6339780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025" y="356443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Liquid, Compliant, &amp;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Automated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1499443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3236714"/>
            <a:ext cx="952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4973984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0751"/>
            <a:ext cx="11029950" cy="52900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1025" y="5194101"/>
            <a:ext cx="11029950" cy="12038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1525" y="5384601"/>
            <a:ext cx="106489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The RWA Supercycle:</a:t>
            </a:r>
            <a:r>
              <a:rPr sz="1350" b="0" i="0" u="none">
                <a:solidFill>
                  <a:srgbClr val="94A3B8"/>
                </a:solidFill>
                <a:latin typeface="Inter Light"/>
              </a:rPr>
              <a:t> Tokenized Real-World Assets are projected to become a multi-trillion dollar sector by 2030. Our niche targets cross-border investors looking for stable, physical infrastructure-backed yields, combined with the lightning-fast execution of the Monad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5194101"/>
            <a:ext cx="38100" cy="120387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317301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Unlocking a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$300 Trillion</a:t>
            </a:r>
            <a:r>
              <a:rPr sz="3450" b="1" i="0" u="none">
                <a:solidFill>
                  <a:srgbClr val="FFFFFF"/>
                </a:solidFill>
                <a:latin typeface="Outfit"/>
              </a:rPr>
              <a:t>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31826"/>
            <a:ext cx="3486150" cy="3327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31826"/>
            <a:ext cx="3486150" cy="33277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31826"/>
            <a:ext cx="3486150" cy="33277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0" y="2631876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3966" y="3622476"/>
            <a:ext cx="214026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Monad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051101"/>
            <a:ext cx="2895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 Light"/>
              </a:rPr>
              <a:t>Utilizing parallel execution for ultra-low latency, drastically reducing transaction costs, and enabling scalable, high-frequency yield distribution.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631876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40830" y="3622476"/>
            <a:ext cx="271033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Smart Contract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4051101"/>
            <a:ext cx="2895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 Light"/>
              </a:rPr>
              <a:t>Extending the ERC-3643 standard to robustly manage permissioned RWA tokens, ensuring programmatic enforcement of all business logic.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2631876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2768" y="3622476"/>
            <a:ext cx="211026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Cleanverse API 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4051101"/>
            <a:ext cx="2895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 Light"/>
              </a:rPr>
              <a:t>The definitive compliance layer acting as the absolute gatekeeper for all interactions, ensuring every participant is fully verified before execution.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0" y="2841426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7412" y="2841426"/>
            <a:ext cx="25717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6450" y="2841426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High-Speed Execution Meets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9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90725"/>
            <a:ext cx="5229225" cy="3810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1025" y="832693"/>
            <a:ext cx="5229225" cy="1310580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525" y="1023193"/>
            <a:ext cx="44291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Wallets must hold a valid CVI for regional whitelisting and accreditation before minting or receiving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2295673"/>
            <a:ext cx="5229225" cy="1584870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525" y="2486173"/>
            <a:ext cx="44291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Peer-to-peer trades automatically revert if the receiving wallet lacks CVI verification, fully securing the secondary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4032944"/>
            <a:ext cx="5229225" cy="1310580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525" y="4223444"/>
            <a:ext cx="44291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Rental yields are strictly distributed using only bank-verified stablecoins.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025" y="5495925"/>
            <a:ext cx="5229225" cy="1310580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525" y="5686425"/>
            <a:ext cx="4429125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Dynamic IVMS 101 data payloads generated for transparent cross-border audit trails.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042243"/>
            <a:ext cx="95250" cy="2000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81025" y="2133748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505223"/>
            <a:ext cx="95250" cy="2000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1025" y="3871019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334000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6796980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025" y="-100756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Uncompromising Regulatory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Defense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242494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705475"/>
            <a:ext cx="95250" cy="200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109B56-EFE4-5888-7533-052AE4F8D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49" y="1990725"/>
            <a:ext cx="5442981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4664"/>
            <a:ext cx="3486150" cy="3642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74664"/>
            <a:ext cx="3486150" cy="36421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74664"/>
            <a:ext cx="3486150" cy="36421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0" y="2474714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8976" y="3465314"/>
            <a:ext cx="197024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Tokenization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93939"/>
            <a:ext cx="2895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 Light"/>
              </a:rPr>
              <a:t>A 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1-2%</a:t>
            </a:r>
            <a:r>
              <a:rPr sz="1200" b="0" i="0" u="none">
                <a:solidFill>
                  <a:srgbClr val="94A3B8"/>
                </a:solidFill>
                <a:latin typeface="Inter Light"/>
              </a:rPr>
              <a:t> upfront structuring fee charged to the property owner/issuer for the legal and technical heavy-lifting of bringing the physical asset on-chain.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474714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10914" y="3465314"/>
            <a:ext cx="137017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Trading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893939"/>
            <a:ext cx="2895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 Light"/>
              </a:rPr>
              <a:t>A 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0.5%</a:t>
            </a:r>
            <a:r>
              <a:rPr sz="1200" b="0" i="0" u="none">
                <a:solidFill>
                  <a:srgbClr val="94A3B8"/>
                </a:solidFill>
                <a:latin typeface="Inter Light"/>
              </a:rPr>
              <a:t> fee hardcoded into the smart contract on all peer-to-peer secondary market transfers of the fractionalized property tokens.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2474714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7710" y="3465314"/>
            <a:ext cx="304038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Yield Management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4208264"/>
            <a:ext cx="2895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 Light"/>
              </a:rPr>
              <a:t>A small operational spread taken securely from the automated monthly rental distributions before routing the funds to CVA stablecoins.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5512" y="2684264"/>
            <a:ext cx="25717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684264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9312" y="2684264"/>
            <a:ext cx="25717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Sustainable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Cash Flow</a:t>
            </a:r>
            <a:r>
              <a:rPr sz="3450" b="1" i="0" u="none">
                <a:solidFill>
                  <a:srgbClr val="FFFFFF"/>
                </a:solidFill>
                <a:latin typeface="Outfit"/>
              </a:rPr>
              <a:t>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86200"/>
            <a:ext cx="11029950" cy="19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902" y="4229100"/>
            <a:ext cx="87630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413" y="1493639"/>
            <a:ext cx="904875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212" y="4229100"/>
            <a:ext cx="904875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9144" y="4629150"/>
            <a:ext cx="345996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Pilot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5057775"/>
            <a:ext cx="3295203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 Light"/>
              </a:rPr>
              <a:t>Partner with a boutique real estate management firm to successfully tokenize and launch a single, high-yield commercial asset as proof-of-concept.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5943" y="1893689"/>
            <a:ext cx="345996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Liquidity Bootstrapping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8323" y="2322314"/>
            <a:ext cx="3295203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 Light"/>
              </a:rPr>
              <a:t>Onboard Web3-native funds and accredited investors looking to diversify away from volatile crypto assets into stable, predictable RWA yields.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2742" y="4629150"/>
            <a:ext cx="345996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1F5F9"/>
                </a:solidFill>
                <a:latin typeface="Outfit SemiBold"/>
              </a:rPr>
              <a:t>Retail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5122" y="5057775"/>
            <a:ext cx="3295203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 Light"/>
              </a:rPr>
              <a:t>Expand whitelisting protocols via Cleanverse to safely allow global retail investors to participate in fractional ownership under strict regulatory guidelines.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4826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381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81625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381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58424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381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From Code to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Real-World</a:t>
            </a:r>
            <a:r>
              <a:rPr sz="3450" b="1" i="0" u="none">
                <a:solidFill>
                  <a:srgbClr val="FFFFFF"/>
                </a:solidFill>
                <a:latin typeface="Outfit"/>
              </a:rPr>
              <a:t>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90725"/>
            <a:ext cx="522922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000250"/>
            <a:ext cx="5210175" cy="37909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81750" y="878383"/>
            <a:ext cx="5229225" cy="1859160"/>
          </a:xfrm>
          <a:prstGeom prst="roundRect">
            <a:avLst>
              <a:gd name="adj" fmla="val 614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53250" y="1068883"/>
            <a:ext cx="4429125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Anchored by a strong academic foundation in Informatics from Telkom University, providing the rigorous computer science background required for blockchain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1750" y="2889944"/>
            <a:ext cx="5229225" cy="1859160"/>
          </a:xfrm>
          <a:prstGeom prst="roundRect">
            <a:avLst>
              <a:gd name="adj" fmla="val 614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53250" y="3080444"/>
            <a:ext cx="4429125" cy="1103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A track record of executing under extreme pressure, with previous victories and participation in top-tier global competitions including the MetaMask Dev Cook-Off and </a:t>
            </a:r>
            <a:r>
              <a:rPr sz="1350" b="0" i="0" u="none" dirty="0" err="1">
                <a:solidFill>
                  <a:srgbClr val="94A3B8"/>
                </a:solidFill>
                <a:latin typeface="Inter Light"/>
              </a:rPr>
              <a:t>Arbitrum</a:t>
            </a: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 Mini Hackathon.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1750" y="4901505"/>
            <a:ext cx="5229225" cy="1859160"/>
          </a:xfrm>
          <a:prstGeom prst="roundRect">
            <a:avLst>
              <a:gd name="adj" fmla="val 614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53250" y="5092005"/>
            <a:ext cx="4429125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Creators of production-ready decentralized applications like </a:t>
            </a:r>
            <a:r>
              <a:rPr sz="1350" b="0" i="0" u="none" dirty="0" err="1">
                <a:solidFill>
                  <a:srgbClr val="94A3B8"/>
                </a:solidFill>
                <a:latin typeface="Inter Light"/>
              </a:rPr>
              <a:t>KiteHive</a:t>
            </a:r>
            <a:r>
              <a:rPr sz="1350" b="0" i="0" u="none" dirty="0">
                <a:solidFill>
                  <a:srgbClr val="94A3B8"/>
                </a:solidFill>
                <a:latin typeface="Inter Light"/>
              </a:rPr>
              <a:t>, demonstrating the ability to take complex Web3 architecture from concept to live deployment.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1750" y="2728019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1750" y="4739580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1750" y="6751141"/>
            <a:ext cx="52292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025" y="-55066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High-Velocity Engineering &amp;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Execution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1087933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3099494"/>
            <a:ext cx="952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5111055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089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691878"/>
            <a:ext cx="52292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1F5F9"/>
                </a:solidFill>
                <a:latin typeface="Inter Light"/>
              </a:rPr>
              <a:t>SovereignX represents the inevitable convergence of traditional real estate and high-speed Web3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925960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 Light"/>
              </a:rPr>
              <a:t>By strictly enforcing compliance at the code level, we solve the biggest bottleneck in RWA adoption today. We are not just building a protocol; we are building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364235"/>
            <a:ext cx="499062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800" b="0" i="0" u="none" dirty="0">
              <a:solidFill>
                <a:srgbClr val="00F2FE"/>
              </a:solidFill>
              <a:latin typeface="Outfit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150" y="4764285"/>
            <a:ext cx="475297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endParaRPr sz="1350" b="0" i="0" u="none" dirty="0">
              <a:solidFill>
                <a:srgbClr val="FFFFFF"/>
              </a:solidFill>
              <a:latin typeface="Inter Ligh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Outfit"/>
              </a:rPr>
              <a:t>Building the Future of </a:t>
            </a:r>
            <a:r>
              <a:rPr sz="3450" b="1" i="0" u="none">
                <a:solidFill>
                  <a:srgbClr val="00F2FE"/>
                </a:solidFill>
                <a:latin typeface="Outfit"/>
              </a:rPr>
              <a:t>Compliant Finance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AAC3C5-3E1A-E7ED-1F42-FAF8945F3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5" y="1992510"/>
            <a:ext cx="42672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625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Inter Light</vt:lpstr>
      <vt:lpstr>Outfit</vt:lpstr>
      <vt:lpstr>Outfit Medium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IRHAM MUHAMMAD HAMZAH</cp:lastModifiedBy>
  <cp:revision>2</cp:revision>
  <dcterms:created xsi:type="dcterms:W3CDTF">2013-01-27T09:14:16Z</dcterms:created>
  <dcterms:modified xsi:type="dcterms:W3CDTF">2026-08-03T04:18:13Z</dcterms:modified>
  <cp:category/>
</cp:coreProperties>
</file>